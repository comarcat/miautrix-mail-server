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43C7F-B001-D42B-F148-634D231A8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13686-E4FD-AA70-F3BF-21B6FA5A0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C3BD7-D9DF-4180-B9DD-7CD46DAB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2E401-4E1C-462E-8997-A02C14B9B62A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18F85-1E92-670D-6DC5-74720523D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8B534-A550-A5B5-903B-27EC6F12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E81C-93C3-41D5-A288-34427A3561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3256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9DCB7-5DEF-BC42-11A8-BD11D0674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EFAAE-3B4B-354B-A0B8-F98D390C3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BAFC3-0265-7AEB-FAD2-AB12EF496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2E401-4E1C-462E-8997-A02C14B9B62A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1F4DD-02FB-D584-4C31-004B48F70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B4E26-7123-55AE-A4AF-746DAA731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E81C-93C3-41D5-A288-34427A3561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3706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4649-A0D4-03E4-E4A8-7091100BE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06814-163B-112A-1485-C1732C47A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87F4C-1C06-CF70-8184-C67F3C063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2E401-4E1C-462E-8997-A02C14B9B62A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11206-FC31-285E-1AD6-F15146F20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1EEF-92D9-EDBE-28DA-6F896D36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E81C-93C3-41D5-A288-34427A3561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739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8CB8-10BC-5005-8370-A60C7A782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A7E7-0C64-82E5-0CC7-EAAA2C8877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F4354-23C6-2D25-F615-C1F7A8AE7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B0C97-90E0-E5C6-346F-8BE034A19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2E401-4E1C-462E-8997-A02C14B9B62A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E0723-0367-C303-F4F4-F4A5AC644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C2B1A-ED2C-1B07-7BA8-BD8C1171E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E81C-93C3-41D5-A288-34427A3561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0299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23075-BBE4-F04B-1E21-00A8D41E2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2B9B6-7B7E-F60D-5C2C-E3F7B327B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2A223-CCE2-A278-2B74-ED9DBD991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DDA43-C4BF-A8F1-734F-F727E3D125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A2E898-67D9-AEEE-6123-3EA481EE47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DCA86-2A7D-136F-1827-A43F28377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2E401-4E1C-462E-8997-A02C14B9B62A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1D842A-2F76-BBD1-9126-099D61660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5C1868-5B7C-C3E2-7F77-ECB601460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E81C-93C3-41D5-A288-34427A3561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0488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30BB4-7723-9FE4-B1FD-FC04DF0E6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361710-9254-27E1-9AB6-937B2CC3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2E401-4E1C-462E-8997-A02C14B9B62A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D7CF7-4DDB-E2AB-1E2E-6D7BED4D0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79E6F-9796-AA84-09BC-41C8805BB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E81C-93C3-41D5-A288-34427A3561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801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885FD-8AB4-9A1B-B63C-A4E7C101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2E401-4E1C-462E-8997-A02C14B9B62A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3A7C86-67D5-780C-00D7-80712A8AB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1C9A3-DC13-6B80-4FA1-C2C6B6799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E81C-93C3-41D5-A288-34427A3561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5518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40ED6-E0E0-4CB5-E3E1-3155F1271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09EE9-84F8-FC41-F0E8-A8C31B03F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3CFC7-F557-B527-5CA3-6AB44DD19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3E1C2-F7D1-A00B-E53E-46AAC07D7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2E401-4E1C-462E-8997-A02C14B9B62A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33FC9-29E0-B5B2-F53F-B0B1FA558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49764-BC47-FFD8-EC29-7E8AB585C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E81C-93C3-41D5-A288-34427A3561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9819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3EFC-EE87-8473-E24E-DB7FFE71B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47DB2-1224-1278-6D45-E98CDEFC71A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26838-67F6-070A-3CC2-2F9ADB80A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9F65F-FDF0-5BE1-E75D-6646CE3D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2E401-4E1C-462E-8997-A02C14B9B62A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32BF7-A2B6-03AC-E8E7-F673DE27F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82785-72AA-E4F1-1453-743B7F10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E81C-93C3-41D5-A288-34427A3561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721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82BBA-2B0B-7DF1-70CA-75A5BE030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30BEC-683C-EA83-C111-5111D9F57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4C32F-43BE-6FEA-1EDB-C3BA3C129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2E401-4E1C-462E-8997-A02C14B9B62A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C4816-9A61-9B3B-76DA-AECC60A43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9F567-0137-2B49-4380-3F6570CA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E81C-93C3-41D5-A288-34427A3561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5791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BA5D58-E06A-E1FA-F768-3FAC54899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F543F-8257-7B3A-D768-64505B957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D3865-7F25-34F9-5807-123B4ECB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2E401-4E1C-462E-8997-A02C14B9B62A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A21C7-B4F9-E6D9-FBE9-2B0E3ED2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78718-CA3D-A3B7-23F9-DE8A10DBB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E81C-93C3-41D5-A288-34427A3561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478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3AF901-C420-1D74-EAD5-7D550F46D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6DA9C-A174-AE18-7733-72A6286D7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45171-5CBC-0237-BA80-ACC5F71F8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2E401-4E1C-462E-8997-A02C14B9B62A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A9E18-164F-1A1E-F99B-9D7A20042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86A32-A6CA-05A4-7C39-2C4C25428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30E81C-93C3-41D5-A288-34427A3561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3305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3CC320-6243-8743-DA55-272F210535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7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143EAB-7DB3-A7EC-B79C-7A9F33D2B886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9F16EF-E203-544E-3277-538FDAEC77A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6B8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19AAC-96C4-800C-042C-230E3DF50045}"/>
              </a:ext>
            </a:extLst>
          </p:cNvPr>
          <p:cNvSpPr txBox="1"/>
          <p:nvPr/>
        </p:nvSpPr>
        <p:spPr>
          <a:xfrm>
            <a:off x="762000" y="1524000"/>
            <a:ext cx="10668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4400" b="1">
                <a:solidFill>
                  <a:srgbClr val="A6B814"/>
                </a:solidFill>
                <a:latin typeface="Calibri" panose="020F0502020204030204" pitchFamily="34" charset="0"/>
              </a:rPr>
              <a:t>Miautrix Mail 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BD5AB5-FC54-0B2A-413F-5C9AC525CCE8}"/>
              </a:ext>
            </a:extLst>
          </p:cNvPr>
          <p:cNvSpPr txBox="1"/>
          <p:nvPr/>
        </p:nvSpPr>
        <p:spPr>
          <a:xfrm>
            <a:off x="762000" y="2438400"/>
            <a:ext cx="1066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solidFill>
                  <a:srgbClr val="B8A394"/>
                </a:solidFill>
                <a:latin typeface="Calibri" panose="020F0502020204030204" pitchFamily="34" charset="0"/>
              </a:rPr>
              <a:t>Secure | Multi-Tenant | Self-Hosted Email Platform</a:t>
            </a:r>
            <a:endParaRPr lang="en-CA" sz="2200">
              <a:solidFill>
                <a:srgbClr val="B8A39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6A46D-27D0-F25A-EC46-B56799DAC73D}"/>
              </a:ext>
            </a:extLst>
          </p:cNvPr>
          <p:cNvSpPr txBox="1"/>
          <p:nvPr/>
        </p:nvSpPr>
        <p:spPr>
          <a:xfrm>
            <a:off x="762000" y="3302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>
                <a:solidFill>
                  <a:srgbClr val="FCFAF8"/>
                </a:solidFill>
                <a:latin typeface="Calibri" panose="020F0502020204030204" pitchFamily="34" charset="0"/>
              </a:rPr>
              <a:t>Version 1.0 - October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46FFB-5B8E-186D-D05E-9C9A5E9ACECB}"/>
              </a:ext>
            </a:extLst>
          </p:cNvPr>
          <p:cNvSpPr txBox="1"/>
          <p:nvPr/>
        </p:nvSpPr>
        <p:spPr>
          <a:xfrm>
            <a:off x="762000" y="4064000"/>
            <a:ext cx="10668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600">
                <a:solidFill>
                  <a:srgbClr val="A6B814"/>
                </a:solidFill>
                <a:latin typeface="Calibri" panose="020F0502020204030204" pitchFamily="34" charset="0"/>
              </a:rPr>
              <a:t>.NET 10 | PostgreSQL | React | Cloudflare Workers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3DF1DA-9388-B0EB-89FA-57E44C17238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203200"/>
            <a:ext cx="1270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2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61FFEE-7A86-6EE8-F6D8-DE2C906355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7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86CCA9-D335-A4CB-05CC-9AF79A7AF938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CC8BC4-1C35-3800-2B6D-80EBDC480AD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6B8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091040-7855-4FA1-1CFE-66CD543A02FE}"/>
              </a:ext>
            </a:extLst>
          </p:cNvPr>
          <p:cNvSpPr txBox="1"/>
          <p:nvPr/>
        </p:nvSpPr>
        <p:spPr>
          <a:xfrm>
            <a:off x="762000" y="381000"/>
            <a:ext cx="635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800" b="1">
                <a:solidFill>
                  <a:srgbClr val="A6B814"/>
                </a:solidFill>
                <a:latin typeface="Calibri" panose="020F0502020204030204" pitchFamily="34" charset="0"/>
              </a:rPr>
              <a:t>Executive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53292-7D96-276C-33A0-AA2B2DEE1CF1}"/>
              </a:ext>
            </a:extLst>
          </p:cNvPr>
          <p:cNvSpPr txBox="1"/>
          <p:nvPr/>
        </p:nvSpPr>
        <p:spPr>
          <a:xfrm>
            <a:off x="762000" y="101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FCFAF8"/>
                </a:solidFill>
                <a:latin typeface="Calibri" panose="020F0502020204030204" pitchFamily="34" charset="0"/>
              </a:rPr>
              <a:t>Full email sovereignty for organizations - no vendor lock-in.</a:t>
            </a:r>
            <a:endParaRPr lang="en-CA">
              <a:solidFill>
                <a:srgbClr val="FCFAF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FCD665-1E84-9CCF-2C3F-96B7B8F04262}"/>
              </a:ext>
            </a:extLst>
          </p:cNvPr>
          <p:cNvSpPr txBox="1"/>
          <p:nvPr/>
        </p:nvSpPr>
        <p:spPr>
          <a:xfrm>
            <a:off x="762000" y="1651000"/>
            <a:ext cx="10668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Complete SMTP/IMAPS/ManageSieve mail pipeline on a single server or cluster.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Strict multi-tenant isolation: each tenant sees only its own data.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Built-in anti-spam, anti-malware, DKIM/SPF/DMARC, and mail-flow rules.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Webmail, Admin Console, CLI, and Desktop App on Windows &amp; Linux.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Optional Cloudflare Workers transport for enhanced deliverability.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Self-hosted identity with Argon2id, TOTP, and WebAuthn.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5ABF41-7A3B-0AC9-3EA2-0EA7DBD6E1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203200"/>
            <a:ext cx="1270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8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CD7587-8CEC-738B-F001-4BF2371032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7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03B3E4-4A09-A3E8-55EA-189A59F1E616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44627A-B9F8-3AB4-13F0-F74C98077C0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6B8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27143B-D1D4-1658-0642-EFDD8D67167E}"/>
              </a:ext>
            </a:extLst>
          </p:cNvPr>
          <p:cNvSpPr txBox="1"/>
          <p:nvPr/>
        </p:nvSpPr>
        <p:spPr>
          <a:xfrm>
            <a:off x="762000" y="381000"/>
            <a:ext cx="635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800" b="1">
                <a:solidFill>
                  <a:srgbClr val="A6B814"/>
                </a:solidFill>
                <a:latin typeface="Calibri" panose="020F0502020204030204" pitchFamily="34" charset="0"/>
              </a:rPr>
              <a:t>Business Value &amp; Product Goals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483D3-CFEC-6260-DF0B-9B48438BF810}"/>
              </a:ext>
            </a:extLst>
          </p:cNvPr>
          <p:cNvSpPr txBox="1"/>
          <p:nvPr/>
        </p:nvSpPr>
        <p:spPr>
          <a:xfrm>
            <a:off x="762000" y="1143000"/>
            <a:ext cx="10668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Data Sovereignty - your email stays on your infrastructure, not a cloud provider.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Cost Predictability - flat licensing with no per-mailbox SaaS markup.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Multi-Tenant by Design - one deployment serves entire organizations or customer bases.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Enterprise Security - Argon2id, MFA, RBAC, full audit trail, tenant isolation enforced at the data layer.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Operational Control - Blue/Green updates, automated backup/restore, zero-downtime deployments.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Modular Architecture - Clean Architecture with swap-in enterprise integrations (S3, Rspamd, IdP federation).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v1.0 delivers the core mail pipeline; future releases add federation, advanced analytics, and native mobile clients.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E08412-7231-B23F-D5DE-1F97C5E23A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203200"/>
            <a:ext cx="1270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70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8599B4-91A4-8F0F-55D3-06B056D3B6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7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DD5785-B51C-02D3-85AC-062EC77C4CE7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D19B05-6927-9F17-B147-8ACE6CDBA13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6B8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F5E90-C8E5-6F47-B15D-5186E1B53BB5}"/>
              </a:ext>
            </a:extLst>
          </p:cNvPr>
          <p:cNvSpPr txBox="1"/>
          <p:nvPr/>
        </p:nvSpPr>
        <p:spPr>
          <a:xfrm>
            <a:off x="762000" y="381000"/>
            <a:ext cx="635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800" b="1">
                <a:solidFill>
                  <a:srgbClr val="A6B814"/>
                </a:solidFill>
                <a:latin typeface="Calibri" panose="020F0502020204030204" pitchFamily="34" charset="0"/>
              </a:rPr>
              <a:t>High-Level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03294-1421-4FE9-EBF0-63C6FAC04D7B}"/>
              </a:ext>
            </a:extLst>
          </p:cNvPr>
          <p:cNvSpPr txBox="1"/>
          <p:nvPr/>
        </p:nvSpPr>
        <p:spPr>
          <a:xfrm>
            <a:off x="762000" y="1143000"/>
            <a:ext cx="106680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Modular Monolith - Clean Architecture with Domain/Application/Infrastructure/Presentation layers.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Domain Layer: Zero dependencies. Contains core entities, value objects, and business invariants.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Application Layer: Use cases, DTOs, service contracts. Orchestrates domain logic.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Persistence: EF Core with PostgreSQL. Tenant-scoped query filters enforce isolation.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Transport Layer: SMTP (submission/receiving), IMAPS, ManageSieve protocol handlers.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Queue System: SQL-backed outbound/inbound queue with retry, backoff, and dead-lettering.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Workers: Background services for queue dispatching, anti-spam, mail-flow rules.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Identity: Argon2id password hashing, TOTP/WebAuthn MFA, session management, granular RBAC.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8C3C73-C305-EB7A-C5B2-E12932D71C1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203200"/>
            <a:ext cx="1270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585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EF531F-9E3C-9B3D-23BC-2262327D81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7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7F3717-9010-9030-E122-7C1060584080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61C839-0F96-46E6-AB07-9703DA6B753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6B8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020C0-495C-C7FC-92C0-83076BE276C8}"/>
              </a:ext>
            </a:extLst>
          </p:cNvPr>
          <p:cNvSpPr txBox="1"/>
          <p:nvPr/>
        </p:nvSpPr>
        <p:spPr>
          <a:xfrm>
            <a:off x="762000" y="381000"/>
            <a:ext cx="889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800" b="1">
                <a:solidFill>
                  <a:srgbClr val="A6B814"/>
                </a:solidFill>
                <a:latin typeface="Calibri" panose="020F0502020204030204" pitchFamily="34" charset="0"/>
              </a:rPr>
              <a:t>Mail Flow &amp; Tenant Isolation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B1653E-BF3A-1802-E592-23C2B0EF9FAE}"/>
              </a:ext>
            </a:extLst>
          </p:cNvPr>
          <p:cNvSpPr txBox="1"/>
          <p:nvPr/>
        </p:nvSpPr>
        <p:spPr>
          <a:xfrm>
            <a:off x="762000" y="1143000"/>
            <a:ext cx="10668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Inbound: SMTP -&gt; Queue -&gt; Anti-Spam -&gt; Anti-Malware -&gt; Mailbox delivery.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Outbound: Webmail/SMTP -&gt; Queue -&gt; DKIM sign -&gt; Cloudflare Worker or local transport.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Queue lifecycle: Pending -&gt; active dispatch -&gt; success | retry (backoff) -&gt; dead-letter.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Tenant Isolation: Single authorization helper - every read and write passes through it.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Cross-tenant resource queries return HTTP 404 (never 403), no resource existence oracle.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Global query filters provide defence-in-depth but are never the sole enforcement point.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Roles bind to memberships, not users; permissions checked by string, never by role === admin.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4C199B-5E66-4E1C-0217-942DB9F8BB9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203200"/>
            <a:ext cx="1270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372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A07CA6-791C-46A1-5A1E-7DC57EB2BC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7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810FBA-B9C4-94C3-BFD3-6128A3208617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2C321-6C69-3C41-F753-1260D043413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6B8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A962C0-A7BF-687C-EDAC-EE54288DE70B}"/>
              </a:ext>
            </a:extLst>
          </p:cNvPr>
          <p:cNvSpPr txBox="1"/>
          <p:nvPr/>
        </p:nvSpPr>
        <p:spPr>
          <a:xfrm>
            <a:off x="762000" y="381000"/>
            <a:ext cx="889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800" b="1">
                <a:solidFill>
                  <a:srgbClr val="A6B814"/>
                </a:solidFill>
                <a:latin typeface="Calibri" panose="020F0502020204030204" pitchFamily="34" charset="0"/>
              </a:rPr>
              <a:t>Codebase Network - Graphify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E1223C-E9E9-156F-2A90-F05273357358}"/>
              </a:ext>
            </a:extLst>
          </p:cNvPr>
          <p:cNvSpPr txBox="1"/>
          <p:nvPr/>
        </p:nvSpPr>
        <p:spPr>
          <a:xfrm>
            <a:off x="762000" y="1016000"/>
            <a:ext cx="10668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B8A394"/>
                </a:solidFill>
                <a:latin typeface="Calibri" panose="020F0502020204030204" pitchFamily="34" charset="0"/>
              </a:rPr>
              <a:t>Knowledge graph of the full repository (last refreshed 2026-10-05)</a:t>
            </a:r>
            <a:endParaRPr lang="en-CA" sz="1600">
              <a:solidFill>
                <a:srgbClr val="B8A39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C246B1-C0A4-71F2-835B-CAD4E0CA2267}"/>
              </a:ext>
            </a:extLst>
          </p:cNvPr>
          <p:cNvSpPr txBox="1"/>
          <p:nvPr/>
        </p:nvSpPr>
        <p:spPr>
          <a:xfrm>
            <a:off x="762000" y="1524000"/>
            <a:ext cx="10668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4,293 nodes | 10,668 edges | 261 communities detected.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Extraction: 93% EXTRACTED | 7% INFERRED | 0% AMBIGUOUS.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Top hubs: MessageService, CalendarService, AuthService, AdminService, ContactService.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Cross-module edges link Domain entities, Application services, Persistence mappings, and UI.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Community clustering surfaces hidden coupling between Sieve rules and spam classification.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Interactive graph at graph.html - search, zoom, and explore the full network.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GraphRAG-ready JSON available for machine query and traversal.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5C01EE-4FA4-B587-334D-11D9624CF6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203200"/>
            <a:ext cx="1270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85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C067C7-4687-4DF0-CCDC-48448621E5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7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DCADE0-5328-A698-F347-ED81239E0B8A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3AD746-0FF1-E7A7-0EF4-19BAD7CDA1C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6B8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7FEFE0-FEE4-1A57-40A1-0C75ACC6059C}"/>
              </a:ext>
            </a:extLst>
          </p:cNvPr>
          <p:cNvSpPr txBox="1"/>
          <p:nvPr/>
        </p:nvSpPr>
        <p:spPr>
          <a:xfrm>
            <a:off x="762000" y="381000"/>
            <a:ext cx="889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800" b="1">
                <a:solidFill>
                  <a:srgbClr val="A6B814"/>
                </a:solidFill>
                <a:latin typeface="Calibri" panose="020F0502020204030204" pitchFamily="34" charset="0"/>
              </a:rPr>
              <a:t>PMI Milestones &amp; Delivery Status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036FD-7255-6876-92B4-79BC17D89A36}"/>
              </a:ext>
            </a:extLst>
          </p:cNvPr>
          <p:cNvSpPr txBox="1"/>
          <p:nvPr/>
        </p:nvSpPr>
        <p:spPr>
          <a:xfrm>
            <a:off x="762000" y="1016000"/>
            <a:ext cx="10668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B8A394"/>
                </a:solidFill>
                <a:latin typeface="Calibri" panose="020F0502020204030204" pitchFamily="34" charset="0"/>
              </a:rPr>
              <a:t>21 work packages across 4 epics - all complete.</a:t>
            </a:r>
            <a:endParaRPr lang="en-CA" sz="1600">
              <a:solidFill>
                <a:srgbClr val="B8A39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A14B2E-719E-3C8F-3584-F41CA73271BE}"/>
              </a:ext>
            </a:extLst>
          </p:cNvPr>
          <p:cNvSpPr/>
          <p:nvPr/>
        </p:nvSpPr>
        <p:spPr>
          <a:xfrm>
            <a:off x="762000" y="1524000"/>
            <a:ext cx="10668000" cy="8255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83C897-7DFF-C9D7-90F5-D8B320017DB4}"/>
              </a:ext>
            </a:extLst>
          </p:cNvPr>
          <p:cNvSpPr txBox="1"/>
          <p:nvPr/>
        </p:nvSpPr>
        <p:spPr>
          <a:xfrm>
            <a:off x="1016000" y="1625600"/>
            <a:ext cx="762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000">
                <a:solidFill>
                  <a:srgbClr val="FCFAF8"/>
                </a:solidFill>
                <a:latin typeface="Calibri" panose="020F0502020204030204" pitchFamily="34" charset="0"/>
              </a:rPr>
              <a:t>[Complete]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38E58D-ECFD-3E70-EB48-7C19CBEE5911}"/>
              </a:ext>
            </a:extLst>
          </p:cNvPr>
          <p:cNvSpPr txBox="1"/>
          <p:nvPr/>
        </p:nvSpPr>
        <p:spPr>
          <a:xfrm>
            <a:off x="1778000" y="15875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600" b="1">
                <a:solidFill>
                  <a:srgbClr val="A6B814"/>
                </a:solidFill>
                <a:latin typeface="Calibri" panose="020F0502020204030204" pitchFamily="34" charset="0"/>
              </a:rPr>
              <a:t>M1: Core Foundation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D2A377-61A7-00B3-9956-86469E242F6E}"/>
              </a:ext>
            </a:extLst>
          </p:cNvPr>
          <p:cNvSpPr txBox="1"/>
          <p:nvPr/>
        </p:nvSpPr>
        <p:spPr>
          <a:xfrm>
            <a:off x="1778000" y="1930400"/>
            <a:ext cx="889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B8A394"/>
                </a:solidFill>
                <a:latin typeface="Calibri" panose="020F0502020204030204" pitchFamily="34" charset="0"/>
              </a:rPr>
              <a:t>Scaffold, schema, auth/MFA, RBAC, audit trail</a:t>
            </a:r>
            <a:endParaRPr lang="en-CA" sz="1400">
              <a:solidFill>
                <a:srgbClr val="B8A394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C536C1-151E-A6C8-5E35-0023B848A072}"/>
              </a:ext>
            </a:extLst>
          </p:cNvPr>
          <p:cNvSpPr/>
          <p:nvPr/>
        </p:nvSpPr>
        <p:spPr>
          <a:xfrm>
            <a:off x="762000" y="2540000"/>
            <a:ext cx="10668000" cy="8255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DF85AF-130E-D32B-2962-B2E1EB57D78A}"/>
              </a:ext>
            </a:extLst>
          </p:cNvPr>
          <p:cNvSpPr txBox="1"/>
          <p:nvPr/>
        </p:nvSpPr>
        <p:spPr>
          <a:xfrm>
            <a:off x="1016000" y="2641600"/>
            <a:ext cx="762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000">
                <a:solidFill>
                  <a:srgbClr val="FCFAF8"/>
                </a:solidFill>
                <a:latin typeface="Calibri" panose="020F0502020204030204" pitchFamily="34" charset="0"/>
              </a:rPr>
              <a:t>[Complete]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AB0E41-AE93-4138-630B-888C8C93823C}"/>
              </a:ext>
            </a:extLst>
          </p:cNvPr>
          <p:cNvSpPr txBox="1"/>
          <p:nvPr/>
        </p:nvSpPr>
        <p:spPr>
          <a:xfrm>
            <a:off x="1778000" y="26035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600" b="1">
                <a:solidFill>
                  <a:srgbClr val="A6B814"/>
                </a:solidFill>
                <a:latin typeface="Calibri" panose="020F0502020204030204" pitchFamily="34" charset="0"/>
              </a:rPr>
              <a:t>M2: Mail Engine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E319AB-3547-CFF4-2400-B613E3F14C66}"/>
              </a:ext>
            </a:extLst>
          </p:cNvPr>
          <p:cNvSpPr txBox="1"/>
          <p:nvPr/>
        </p:nvSpPr>
        <p:spPr>
          <a:xfrm>
            <a:off x="1778000" y="2946400"/>
            <a:ext cx="889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400">
                <a:solidFill>
                  <a:srgbClr val="B8A394"/>
                </a:solidFill>
                <a:latin typeface="Calibri" panose="020F0502020204030204" pitchFamily="34" charset="0"/>
              </a:rPr>
              <a:t>SMTP, SPF/DKIM/DMARC, anti-spam, IMAP, Sieve, FTS, rules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5C9E15-9760-3543-0486-2916EE691B28}"/>
              </a:ext>
            </a:extLst>
          </p:cNvPr>
          <p:cNvSpPr/>
          <p:nvPr/>
        </p:nvSpPr>
        <p:spPr>
          <a:xfrm>
            <a:off x="762000" y="3556000"/>
            <a:ext cx="10668000" cy="8255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4870E2-DED2-2785-15ED-9027F55361C6}"/>
              </a:ext>
            </a:extLst>
          </p:cNvPr>
          <p:cNvSpPr txBox="1"/>
          <p:nvPr/>
        </p:nvSpPr>
        <p:spPr>
          <a:xfrm>
            <a:off x="1016000" y="3657600"/>
            <a:ext cx="762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000">
                <a:solidFill>
                  <a:srgbClr val="FCFAF8"/>
                </a:solidFill>
                <a:latin typeface="Calibri" panose="020F0502020204030204" pitchFamily="34" charset="0"/>
              </a:rPr>
              <a:t>[Complete]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1987E7-78DF-F8BE-908F-B2584D921E49}"/>
              </a:ext>
            </a:extLst>
          </p:cNvPr>
          <p:cNvSpPr txBox="1"/>
          <p:nvPr/>
        </p:nvSpPr>
        <p:spPr>
          <a:xfrm>
            <a:off x="1778000" y="36195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600" b="1">
                <a:solidFill>
                  <a:srgbClr val="A6B814"/>
                </a:solidFill>
                <a:latin typeface="Calibri" panose="020F0502020204030204" pitchFamily="34" charset="0"/>
              </a:rPr>
              <a:t>M3: User Surfaces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2752BF-35D5-EF3F-0F61-D2554A94D998}"/>
              </a:ext>
            </a:extLst>
          </p:cNvPr>
          <p:cNvSpPr txBox="1"/>
          <p:nvPr/>
        </p:nvSpPr>
        <p:spPr>
          <a:xfrm>
            <a:off x="1778000" y="3962400"/>
            <a:ext cx="889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B8A394"/>
                </a:solidFill>
                <a:latin typeface="Calibri" panose="020F0502020204030204" pitchFamily="34" charset="0"/>
              </a:rPr>
              <a:t>REST API, Web Admin, Webmail, CLI</a:t>
            </a:r>
            <a:endParaRPr lang="en-CA" sz="1400">
              <a:solidFill>
                <a:srgbClr val="B8A394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DEF341-B84D-C3B4-B031-CEC48820B3DA}"/>
              </a:ext>
            </a:extLst>
          </p:cNvPr>
          <p:cNvSpPr/>
          <p:nvPr/>
        </p:nvSpPr>
        <p:spPr>
          <a:xfrm>
            <a:off x="762000" y="4572000"/>
            <a:ext cx="10668000" cy="8255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BDC12-2259-EFCA-F908-E05250EF8E5C}"/>
              </a:ext>
            </a:extLst>
          </p:cNvPr>
          <p:cNvSpPr txBox="1"/>
          <p:nvPr/>
        </p:nvSpPr>
        <p:spPr>
          <a:xfrm>
            <a:off x="1016000" y="4673600"/>
            <a:ext cx="762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000">
                <a:solidFill>
                  <a:srgbClr val="FCFAF8"/>
                </a:solidFill>
                <a:latin typeface="Calibri" panose="020F0502020204030204" pitchFamily="34" charset="0"/>
              </a:rPr>
              <a:t>[Complete]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6D9237-326F-7AD8-F59D-414FF2FE00BD}"/>
              </a:ext>
            </a:extLst>
          </p:cNvPr>
          <p:cNvSpPr txBox="1"/>
          <p:nvPr/>
        </p:nvSpPr>
        <p:spPr>
          <a:xfrm>
            <a:off x="1778000" y="46355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600" b="1">
                <a:solidFill>
                  <a:srgbClr val="A6B814"/>
                </a:solidFill>
                <a:latin typeface="Calibri" panose="020F0502020204030204" pitchFamily="34" charset="0"/>
              </a:rPr>
              <a:t>M4: Operational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9F5E58-79A6-190E-0997-A1BF6D8DF138}"/>
              </a:ext>
            </a:extLst>
          </p:cNvPr>
          <p:cNvSpPr txBox="1"/>
          <p:nvPr/>
        </p:nvSpPr>
        <p:spPr>
          <a:xfrm>
            <a:off x="1778000" y="4978400"/>
            <a:ext cx="889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B8A394"/>
                </a:solidFill>
                <a:latin typeface="Calibri" panose="020F0502020204030204" pitchFamily="34" charset="0"/>
              </a:rPr>
              <a:t>Desktop client, backup/restore, Blue/Green updates, license</a:t>
            </a:r>
            <a:endParaRPr lang="en-CA" sz="1400">
              <a:solidFill>
                <a:srgbClr val="B8A394"/>
              </a:solidFill>
              <a:latin typeface="Calibri" panose="020F050202020403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3800E22-7576-FDD1-65EF-AA596D3B935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203200"/>
            <a:ext cx="1270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17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F1FE56-94F1-3231-4E19-9BED91C0A4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7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EF22E-6BC2-86DC-88E7-8487DBD9296E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9C483C-EB23-95E9-66C5-208141F695E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6B8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61C842-516A-FC0B-BCEC-59039C333B54}"/>
              </a:ext>
            </a:extLst>
          </p:cNvPr>
          <p:cNvSpPr txBox="1"/>
          <p:nvPr/>
        </p:nvSpPr>
        <p:spPr>
          <a:xfrm>
            <a:off x="762000" y="381000"/>
            <a:ext cx="889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800" b="1">
                <a:solidFill>
                  <a:srgbClr val="A6B814"/>
                </a:solidFill>
                <a:latin typeface="Calibri" panose="020F0502020204030204" pitchFamily="34" charset="0"/>
              </a:rPr>
              <a:t>Major Changes Delivered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9B1AE5-5923-2B25-087A-1095C95C1E11}"/>
              </a:ext>
            </a:extLst>
          </p:cNvPr>
          <p:cNvSpPr txBox="1"/>
          <p:nvPr/>
        </p:nvSpPr>
        <p:spPr>
          <a:xfrm>
            <a:off x="762000" y="1143000"/>
            <a:ext cx="106680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Database schema: 5 EF Core migrations, production schema drift resolved, forward-only deployment.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Authentication: Argon2id login, TOTP, WebAuthn, session management, refresh tokens.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Mail pipeline: SMTP submission/receiving, IMAPS with credential verification, ManageSieve.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Queue system: Inbound/outbound dispatch with retry/backoff, direction partitioning (fixes DB-06).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Cloudflare transport: Per-domain optional Worker routing, fallback to primary tenant Worker.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Anti-spam + anti-malware: Classification pipeline, quarantine lifecycle, auto-discard policies.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Webmail: Composer, drafts, folders, contacts, directory, calendar RSVP, recipient picker.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Admin UI: Domains, users, shared mailboxes, queue management, quarantine, audit log.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965A36-B825-7CB0-5948-F06FF85896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203200"/>
            <a:ext cx="1270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55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663D4D-945B-80B9-F983-75D60F816B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7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E80286-A64D-F3EF-EC4C-AA3CAFACCC65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EA6121-C88B-CDF9-4DAE-FA664C86DD2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6B8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B2393-C465-1B56-99A4-9C1C4B68646C}"/>
              </a:ext>
            </a:extLst>
          </p:cNvPr>
          <p:cNvSpPr txBox="1"/>
          <p:nvPr/>
        </p:nvSpPr>
        <p:spPr>
          <a:xfrm>
            <a:off x="762000" y="381000"/>
            <a:ext cx="889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800" b="1">
                <a:solidFill>
                  <a:srgbClr val="A6B814"/>
                </a:solidFill>
                <a:latin typeface="Calibri" panose="020F0502020204030204" pitchFamily="34" charset="0"/>
              </a:rPr>
              <a:t>Error &amp; Issue Resolution Timeline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2ABAD2-2706-88F3-51AF-8B62C18DF11F}"/>
              </a:ext>
            </a:extLst>
          </p:cNvPr>
          <p:cNvSpPr txBox="1"/>
          <p:nvPr/>
        </p:nvSpPr>
        <p:spPr>
          <a:xfrm>
            <a:off x="762000" y="1079500"/>
            <a:ext cx="101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 b="1">
                <a:solidFill>
                  <a:srgbClr val="A6B814"/>
                </a:solidFill>
                <a:latin typeface="Calibri" panose="020F0502020204030204" pitchFamily="34" charset="0"/>
              </a:rPr>
              <a:t>FE-01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8DD09-0460-4968-E553-22990E9C110F}"/>
              </a:ext>
            </a:extLst>
          </p:cNvPr>
          <p:cNvSpPr txBox="1"/>
          <p:nvPr/>
        </p:nvSpPr>
        <p:spPr>
          <a:xfrm>
            <a:off x="1778000" y="1079500"/>
            <a:ext cx="762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CFAF8"/>
                </a:solidFill>
                <a:latin typeface="Calibri" panose="020F0502020204030204" pitchFamily="34" charset="0"/>
              </a:rPr>
              <a:t>Auth bypass (dev flag left true)</a:t>
            </a:r>
            <a:endParaRPr lang="en-CA" sz="1200">
              <a:solidFill>
                <a:srgbClr val="FCFAF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70AFCA-8EC0-C37F-93B7-48AE013BC2CC}"/>
              </a:ext>
            </a:extLst>
          </p:cNvPr>
          <p:cNvSpPr txBox="1"/>
          <p:nvPr/>
        </p:nvSpPr>
        <p:spPr>
          <a:xfrm>
            <a:off x="9906000" y="1079500"/>
            <a:ext cx="76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400">
                <a:solidFill>
                  <a:srgbClr val="5EC522"/>
                </a:solidFill>
                <a:latin typeface="Calibri" panose="020F0502020204030204" pitchFamily="34" charset="0"/>
              </a:rPr>
              <a:t>Fixed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25C99D-B519-F0C1-5A3A-482BA20D6D8F}"/>
              </a:ext>
            </a:extLst>
          </p:cNvPr>
          <p:cNvSpPr txBox="1"/>
          <p:nvPr/>
        </p:nvSpPr>
        <p:spPr>
          <a:xfrm>
            <a:off x="762000" y="1524000"/>
            <a:ext cx="101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 b="1">
                <a:solidFill>
                  <a:srgbClr val="A6B814"/>
                </a:solidFill>
                <a:latin typeface="Calibri" panose="020F0502020204030204" pitchFamily="34" charset="0"/>
              </a:rPr>
              <a:t>FE-02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C7C698-C2C2-6F32-D17B-354DEA343B14}"/>
              </a:ext>
            </a:extLst>
          </p:cNvPr>
          <p:cNvSpPr txBox="1"/>
          <p:nvPr/>
        </p:nvSpPr>
        <p:spPr>
          <a:xfrm>
            <a:off x="1778000" y="1524000"/>
            <a:ext cx="762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CFAF8"/>
                </a:solidFill>
                <a:latin typeface="Calibri" panose="020F0502020204030204" pitchFamily="34" charset="0"/>
              </a:rPr>
              <a:t>Admin white screen (Vite base path)</a:t>
            </a:r>
            <a:endParaRPr lang="en-CA" sz="1200">
              <a:solidFill>
                <a:srgbClr val="FCFAF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A0F1C3-1D6C-DCBF-1795-AD8A85C4EA99}"/>
              </a:ext>
            </a:extLst>
          </p:cNvPr>
          <p:cNvSpPr txBox="1"/>
          <p:nvPr/>
        </p:nvSpPr>
        <p:spPr>
          <a:xfrm>
            <a:off x="9906000" y="1524000"/>
            <a:ext cx="76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400">
                <a:solidFill>
                  <a:srgbClr val="5EC522"/>
                </a:solidFill>
                <a:latin typeface="Calibri" panose="020F0502020204030204" pitchFamily="34" charset="0"/>
              </a:rPr>
              <a:t>Fixed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464AEB-43AD-547C-5D34-D1FAC3746AE0}"/>
              </a:ext>
            </a:extLst>
          </p:cNvPr>
          <p:cNvSpPr txBox="1"/>
          <p:nvPr/>
        </p:nvSpPr>
        <p:spPr>
          <a:xfrm>
            <a:off x="762000" y="1968500"/>
            <a:ext cx="101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 b="1">
                <a:solidFill>
                  <a:srgbClr val="A6B814"/>
                </a:solidFill>
                <a:latin typeface="Calibri" panose="020F0502020204030204" pitchFamily="34" charset="0"/>
              </a:rPr>
              <a:t>FE-04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DF1D35-EE3B-542C-8580-BAAFEF12ADD1}"/>
              </a:ext>
            </a:extLst>
          </p:cNvPr>
          <p:cNvSpPr txBox="1"/>
          <p:nvPr/>
        </p:nvSpPr>
        <p:spPr>
          <a:xfrm>
            <a:off x="1778000" y="1968500"/>
            <a:ext cx="762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CFAF8"/>
                </a:solidFill>
                <a:latin typeface="Calibri" panose="020F0502020204030204" pitchFamily="34" charset="0"/>
              </a:rPr>
              <a:t>Company Directory 0 contacts (permissions)</a:t>
            </a:r>
            <a:endParaRPr lang="en-CA" sz="1200">
              <a:solidFill>
                <a:srgbClr val="FCFAF8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B85AD7-BB1C-D093-96BC-E5C50A2FD8DA}"/>
              </a:ext>
            </a:extLst>
          </p:cNvPr>
          <p:cNvSpPr txBox="1"/>
          <p:nvPr/>
        </p:nvSpPr>
        <p:spPr>
          <a:xfrm>
            <a:off x="9906000" y="1968500"/>
            <a:ext cx="76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400">
                <a:solidFill>
                  <a:srgbClr val="5EC522"/>
                </a:solidFill>
                <a:latin typeface="Calibri" panose="020F0502020204030204" pitchFamily="34" charset="0"/>
              </a:rPr>
              <a:t>Fixed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6AA751-DEF1-55F7-278E-0D2487885B1B}"/>
              </a:ext>
            </a:extLst>
          </p:cNvPr>
          <p:cNvSpPr txBox="1"/>
          <p:nvPr/>
        </p:nvSpPr>
        <p:spPr>
          <a:xfrm>
            <a:off x="762000" y="2413000"/>
            <a:ext cx="101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 b="1">
                <a:solidFill>
                  <a:srgbClr val="A6B814"/>
                </a:solidFill>
                <a:latin typeface="Calibri" panose="020F0502020204030204" pitchFamily="34" charset="0"/>
              </a:rPr>
              <a:t>DB-04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2553A3-9967-90B1-51AA-944D92FF6F5C}"/>
              </a:ext>
            </a:extLst>
          </p:cNvPr>
          <p:cNvSpPr txBox="1"/>
          <p:nvPr/>
        </p:nvSpPr>
        <p:spPr>
          <a:xfrm>
            <a:off x="1778000" y="2413000"/>
            <a:ext cx="762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>
                <a:solidFill>
                  <a:srgbClr val="FCFAF8"/>
                </a:solidFill>
                <a:latin typeface="Calibri" panose="020F0502020204030204" pitchFamily="34" charset="0"/>
              </a:rPr>
              <a:t>Production login 500 (column name drift)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CF9BA-72FE-0FA4-CCA8-B12266F16876}"/>
              </a:ext>
            </a:extLst>
          </p:cNvPr>
          <p:cNvSpPr txBox="1"/>
          <p:nvPr/>
        </p:nvSpPr>
        <p:spPr>
          <a:xfrm>
            <a:off x="9906000" y="2413000"/>
            <a:ext cx="76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400">
                <a:solidFill>
                  <a:srgbClr val="5EC522"/>
                </a:solidFill>
                <a:latin typeface="Calibri" panose="020F0502020204030204" pitchFamily="34" charset="0"/>
              </a:rPr>
              <a:t>Fixed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6E4C65-C40D-C22C-E48A-EA8E3EFA942A}"/>
              </a:ext>
            </a:extLst>
          </p:cNvPr>
          <p:cNvSpPr txBox="1"/>
          <p:nvPr/>
        </p:nvSpPr>
        <p:spPr>
          <a:xfrm>
            <a:off x="762000" y="2857500"/>
            <a:ext cx="101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 b="1">
                <a:solidFill>
                  <a:srgbClr val="A6B814"/>
                </a:solidFill>
                <a:latin typeface="Calibri" panose="020F0502020204030204" pitchFamily="34" charset="0"/>
              </a:rPr>
              <a:t>DB-06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05742-7D46-79BD-4E5B-D074F5F617FE}"/>
              </a:ext>
            </a:extLst>
          </p:cNvPr>
          <p:cNvSpPr txBox="1"/>
          <p:nvPr/>
        </p:nvSpPr>
        <p:spPr>
          <a:xfrm>
            <a:off x="1778000" y="2857500"/>
            <a:ext cx="762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CFAF8"/>
                </a:solidFill>
                <a:latin typeface="Calibri" panose="020F0502020204030204" pitchFamily="34" charset="0"/>
              </a:rPr>
              <a:t>Outbound queue hijacked as inbound</a:t>
            </a:r>
            <a:endParaRPr lang="en-CA" sz="1200">
              <a:solidFill>
                <a:srgbClr val="FCFAF8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1D6B27-278A-4128-2F58-48B76DF656C5}"/>
              </a:ext>
            </a:extLst>
          </p:cNvPr>
          <p:cNvSpPr txBox="1"/>
          <p:nvPr/>
        </p:nvSpPr>
        <p:spPr>
          <a:xfrm>
            <a:off x="9906000" y="2857500"/>
            <a:ext cx="76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400">
                <a:solidFill>
                  <a:srgbClr val="5EC522"/>
                </a:solidFill>
                <a:latin typeface="Calibri" panose="020F0502020204030204" pitchFamily="34" charset="0"/>
              </a:rPr>
              <a:t>Fixed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4B542C-B9A3-7C43-4502-A179B502DF99}"/>
              </a:ext>
            </a:extLst>
          </p:cNvPr>
          <p:cNvSpPr txBox="1"/>
          <p:nvPr/>
        </p:nvSpPr>
        <p:spPr>
          <a:xfrm>
            <a:off x="762000" y="3302000"/>
            <a:ext cx="101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 b="1">
                <a:solidFill>
                  <a:srgbClr val="A6B814"/>
                </a:solidFill>
                <a:latin typeface="Calibri" panose="020F0502020204030204" pitchFamily="34" charset="0"/>
              </a:rPr>
              <a:t>FE-07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6BF824-F263-21B8-0F13-0682BFE9A8F7}"/>
              </a:ext>
            </a:extLst>
          </p:cNvPr>
          <p:cNvSpPr txBox="1"/>
          <p:nvPr/>
        </p:nvSpPr>
        <p:spPr>
          <a:xfrm>
            <a:off x="1778000" y="3302000"/>
            <a:ext cx="762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>
                <a:solidFill>
                  <a:srgbClr val="FCFAF8"/>
                </a:solidFill>
                <a:latin typeface="Calibri" panose="020F0502020204030204" pitchFamily="34" charset="0"/>
              </a:rPr>
              <a:t>Calendar RSVP submission failure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872523-1C65-AD66-3453-754E31455609}"/>
              </a:ext>
            </a:extLst>
          </p:cNvPr>
          <p:cNvSpPr txBox="1"/>
          <p:nvPr/>
        </p:nvSpPr>
        <p:spPr>
          <a:xfrm>
            <a:off x="9906000" y="3302000"/>
            <a:ext cx="76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400">
                <a:solidFill>
                  <a:srgbClr val="5EC522"/>
                </a:solidFill>
                <a:latin typeface="Calibri" panose="020F0502020204030204" pitchFamily="34" charset="0"/>
              </a:rPr>
              <a:t>Fixed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DA7E88-6F27-2D28-A6EC-93DC051E4322}"/>
              </a:ext>
            </a:extLst>
          </p:cNvPr>
          <p:cNvSpPr txBox="1"/>
          <p:nvPr/>
        </p:nvSpPr>
        <p:spPr>
          <a:xfrm>
            <a:off x="762000" y="3746500"/>
            <a:ext cx="101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 b="1">
                <a:solidFill>
                  <a:srgbClr val="A6B814"/>
                </a:solidFill>
                <a:latin typeface="Calibri" panose="020F0502020204030204" pitchFamily="34" charset="0"/>
              </a:rPr>
              <a:t>FE-10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2291F1-38FC-F322-1E41-A3D1B40E4D9C}"/>
              </a:ext>
            </a:extLst>
          </p:cNvPr>
          <p:cNvSpPr txBox="1"/>
          <p:nvPr/>
        </p:nvSpPr>
        <p:spPr>
          <a:xfrm>
            <a:off x="1778000" y="3746500"/>
            <a:ext cx="762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>
                <a:solidFill>
                  <a:srgbClr val="FCFAF8"/>
                </a:solidFill>
                <a:latin typeface="Calibri" panose="020F0502020204030204" pitchFamily="34" charset="0"/>
              </a:rPr>
              <a:t>Bulk delete white screen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77AA04-A53D-3F5A-0213-AAA055396FEC}"/>
              </a:ext>
            </a:extLst>
          </p:cNvPr>
          <p:cNvSpPr txBox="1"/>
          <p:nvPr/>
        </p:nvSpPr>
        <p:spPr>
          <a:xfrm>
            <a:off x="9906000" y="3746500"/>
            <a:ext cx="76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400">
                <a:solidFill>
                  <a:srgbClr val="5EC522"/>
                </a:solidFill>
                <a:latin typeface="Calibri" panose="020F0502020204030204" pitchFamily="34" charset="0"/>
              </a:rPr>
              <a:t>Fixed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B7E39D-DDD3-B98F-920E-A981852753CC}"/>
              </a:ext>
            </a:extLst>
          </p:cNvPr>
          <p:cNvSpPr txBox="1"/>
          <p:nvPr/>
        </p:nvSpPr>
        <p:spPr>
          <a:xfrm>
            <a:off x="762000" y="4191000"/>
            <a:ext cx="101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 b="1">
                <a:solidFill>
                  <a:srgbClr val="A6B814"/>
                </a:solidFill>
                <a:latin typeface="Calibri" panose="020F0502020204030204" pitchFamily="34" charset="0"/>
              </a:rPr>
              <a:t>TRX-01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9F39FA-0E44-252D-3041-57D4BEB8CF35}"/>
              </a:ext>
            </a:extLst>
          </p:cNvPr>
          <p:cNvSpPr txBox="1"/>
          <p:nvPr/>
        </p:nvSpPr>
        <p:spPr>
          <a:xfrm>
            <a:off x="1778000" y="4191000"/>
            <a:ext cx="762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>
                <a:solidFill>
                  <a:srgbClr val="FCFAF8"/>
                </a:solidFill>
                <a:latin typeface="Calibri" panose="020F0502020204030204" pitchFamily="34" charset="0"/>
              </a:rPr>
              <a:t>No SMTP listener deployed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E7DCA8-93DA-8B9E-1762-AF5AF81FA984}"/>
              </a:ext>
            </a:extLst>
          </p:cNvPr>
          <p:cNvSpPr txBox="1"/>
          <p:nvPr/>
        </p:nvSpPr>
        <p:spPr>
          <a:xfrm>
            <a:off x="9906000" y="4191000"/>
            <a:ext cx="76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400">
                <a:solidFill>
                  <a:srgbClr val="5EC522"/>
                </a:solidFill>
                <a:latin typeface="Calibri" panose="020F0502020204030204" pitchFamily="34" charset="0"/>
              </a:rPr>
              <a:t>Fixed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333D6-5567-78EF-0EC4-D443FB67A293}"/>
              </a:ext>
            </a:extLst>
          </p:cNvPr>
          <p:cNvSpPr txBox="1"/>
          <p:nvPr/>
        </p:nvSpPr>
        <p:spPr>
          <a:xfrm>
            <a:off x="762000" y="4635500"/>
            <a:ext cx="101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 b="1">
                <a:solidFill>
                  <a:srgbClr val="A6B814"/>
                </a:solidFill>
                <a:latin typeface="Calibri" panose="020F0502020204030204" pitchFamily="34" charset="0"/>
              </a:rPr>
              <a:t>TRX-04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671B5F-6B7F-79F7-6A00-7F83BF180265}"/>
              </a:ext>
            </a:extLst>
          </p:cNvPr>
          <p:cNvSpPr txBox="1"/>
          <p:nvPr/>
        </p:nvSpPr>
        <p:spPr>
          <a:xfrm>
            <a:off x="1778000" y="4635500"/>
            <a:ext cx="762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CFAF8"/>
                </a:solidFill>
                <a:latin typeface="Calibri" panose="020F0502020204030204" pitchFamily="34" charset="0"/>
              </a:rPr>
              <a:t>No outbound delivery (queue sat empty)</a:t>
            </a:r>
            <a:endParaRPr lang="en-CA" sz="1200">
              <a:solidFill>
                <a:srgbClr val="FCFAF8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8BFB35-63B1-1526-AE83-B30268FDFA0D}"/>
              </a:ext>
            </a:extLst>
          </p:cNvPr>
          <p:cNvSpPr txBox="1"/>
          <p:nvPr/>
        </p:nvSpPr>
        <p:spPr>
          <a:xfrm>
            <a:off x="9906000" y="4635500"/>
            <a:ext cx="76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400">
                <a:solidFill>
                  <a:srgbClr val="5EC522"/>
                </a:solidFill>
                <a:latin typeface="Calibri" panose="020F0502020204030204" pitchFamily="34" charset="0"/>
              </a:rPr>
              <a:t>Fixed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928047-1651-A69C-A630-6E4A39742E6C}"/>
              </a:ext>
            </a:extLst>
          </p:cNvPr>
          <p:cNvSpPr txBox="1"/>
          <p:nvPr/>
        </p:nvSpPr>
        <p:spPr>
          <a:xfrm>
            <a:off x="762000" y="5080000"/>
            <a:ext cx="101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 b="1">
                <a:solidFill>
                  <a:srgbClr val="A6B814"/>
                </a:solidFill>
                <a:latin typeface="Calibri" panose="020F0502020204030204" pitchFamily="34" charset="0"/>
              </a:rPr>
              <a:t>TRX-07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674733-8680-B4E3-4269-CB3A3157CF27}"/>
              </a:ext>
            </a:extLst>
          </p:cNvPr>
          <p:cNvSpPr txBox="1"/>
          <p:nvPr/>
        </p:nvSpPr>
        <p:spPr>
          <a:xfrm>
            <a:off x="1778000" y="5080000"/>
            <a:ext cx="762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200">
                <a:solidFill>
                  <a:srgbClr val="FCFAF8"/>
                </a:solidFill>
                <a:latin typeface="Calibri" panose="020F0502020204030204" pitchFamily="34" charset="0"/>
              </a:rPr>
              <a:t>Quarantine release not delivering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9C1667-7762-6879-A494-B475F22E3440}"/>
              </a:ext>
            </a:extLst>
          </p:cNvPr>
          <p:cNvSpPr txBox="1"/>
          <p:nvPr/>
        </p:nvSpPr>
        <p:spPr>
          <a:xfrm>
            <a:off x="9906000" y="5080000"/>
            <a:ext cx="76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400">
                <a:solidFill>
                  <a:srgbClr val="5EC522"/>
                </a:solidFill>
                <a:latin typeface="Calibri" panose="020F0502020204030204" pitchFamily="34" charset="0"/>
              </a:rPr>
              <a:t>Fixed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3019DA-D5FD-75D5-E7B9-999F3C974EDD}"/>
              </a:ext>
            </a:extLst>
          </p:cNvPr>
          <p:cNvSpPr txBox="1"/>
          <p:nvPr/>
        </p:nvSpPr>
        <p:spPr>
          <a:xfrm>
            <a:off x="762000" y="6096000"/>
            <a:ext cx="889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B8A394"/>
                </a:solidFill>
                <a:latin typeface="Calibri" panose="020F0502020204030204" pitchFamily="34" charset="0"/>
              </a:rPr>
              <a:t>Full log: ERRORS_AND_ISSUES.md (65+ tracked issues, all resolved for v1.0)</a:t>
            </a:r>
            <a:endParaRPr lang="en-CA" sz="1400">
              <a:solidFill>
                <a:srgbClr val="B8A394"/>
              </a:solidFill>
              <a:latin typeface="Calibri" panose="020F0502020204030204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FCA0686-CBFC-9001-3D2B-83836A162CD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203200"/>
            <a:ext cx="1270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80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3F052D-A9EB-ADB5-714B-0B83D89A16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7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CAE634-1CB6-A796-5C62-D4B6223FF3DF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02BC5-4905-0D35-5145-21CB77BA0C6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6B8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5E0F87-4046-7228-3CAE-CA0EBF99FFA4}"/>
              </a:ext>
            </a:extLst>
          </p:cNvPr>
          <p:cNvSpPr txBox="1"/>
          <p:nvPr/>
        </p:nvSpPr>
        <p:spPr>
          <a:xfrm>
            <a:off x="762000" y="381000"/>
            <a:ext cx="889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800" b="1">
                <a:solidFill>
                  <a:srgbClr val="A6B814"/>
                </a:solidFill>
                <a:latin typeface="Calibri" panose="020F0502020204030204" pitchFamily="34" charset="0"/>
              </a:rPr>
              <a:t>Security &amp; Compliance Posture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FAC677-6C42-B7CF-413D-846A33766610}"/>
              </a:ext>
            </a:extLst>
          </p:cNvPr>
          <p:cNvSpPr txBox="1"/>
          <p:nvPr/>
        </p:nvSpPr>
        <p:spPr>
          <a:xfrm>
            <a:off x="762000" y="1143000"/>
            <a:ext cx="106680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Passwords: Argon2id (memory-hard, parallel-resistant) - never logged, never stored in plaintext.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Authentication: TOTP and WebAuthn/Passkeys for second factor.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Session Management: Short-lived tokens, refresh token rotation, server-side revocation.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Tenant Isolation: 404-on-cross-tenant, single auth helper, role-permission string checks.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Transport Security: No SMTP auth without TLS, HTTPS-only API, HSTS headers.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Audit Trail: Every security-sensitive operation logged (login, tenant change, permission change).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Secrets Management: Redaction enforced at the logger level, not per call site.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Compliance: Forward-only migrations, backup/restore verified, Blue/Green deployment safe.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E1F11D-55E6-CC83-EEA3-E9CA4784A65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203200"/>
            <a:ext cx="1270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61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481B50-E72C-5200-E32C-1F84D93A5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7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8201A4-E60A-2B82-CABA-33C630E19AED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2DA507-AEE9-E8B2-29BF-233A579F064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6B8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E0A71-7AC3-9C1F-CB61-7295E73590FE}"/>
              </a:ext>
            </a:extLst>
          </p:cNvPr>
          <p:cNvSpPr txBox="1"/>
          <p:nvPr/>
        </p:nvSpPr>
        <p:spPr>
          <a:xfrm>
            <a:off x="762000" y="381000"/>
            <a:ext cx="889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800" b="1">
                <a:solidFill>
                  <a:srgbClr val="A6B814"/>
                </a:solidFill>
                <a:latin typeface="Calibri" panose="020F0502020204030204" pitchFamily="34" charset="0"/>
              </a:rPr>
              <a:t>v1.0 Stabilization Evidence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D72675-CB7C-F8BB-F9CF-B510672361B5}"/>
              </a:ext>
            </a:extLst>
          </p:cNvPr>
          <p:cNvSpPr txBox="1"/>
          <p:nvPr/>
        </p:nvSpPr>
        <p:spPr>
          <a:xfrm>
            <a:off x="762000" y="1143000"/>
            <a:ext cx="106680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Build: dotnet build Miautrix.Mail.sln -warnaserror - 0 warnings, 0 errors across 29 projects.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Webmail: pnpm --filter webmail build passes; all views compile without TypeScript errors.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Admin: pnpm --filter admin build passes; queue, quarantine, domains all functional.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Tests: 6 CalendarInvitationBuilder tests pass; QueueOwnershipTests pass.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Deployment: Web, worker, anti-spam binaries published to Debian LXC behind Cloudflare Tunnel.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Live verification: Inbound/outbound queue dispatch, Cloudflare Worker routing confirmed.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Production migration: 20260920223000_AddMailboxName applied, login 500 resolved.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Issue tracker: All tracked ERRORS_AND_ISSUES.md items resolved or documented as deferred.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F9C9D5-7DF9-F910-91CB-CF05E2C84E4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203200"/>
            <a:ext cx="1270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141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D5CC63-331D-D7F5-2AE6-F6D8321A8B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7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A701DD-0353-62F0-5D53-C14EB22E81CA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3B29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5ABDAA-BD84-8677-FCB9-D8932B3E506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6B8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10263-D8B3-A21B-59FA-34B56833EAC8}"/>
              </a:ext>
            </a:extLst>
          </p:cNvPr>
          <p:cNvSpPr txBox="1"/>
          <p:nvPr/>
        </p:nvSpPr>
        <p:spPr>
          <a:xfrm>
            <a:off x="762000" y="1524000"/>
            <a:ext cx="10668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4000" b="1">
                <a:solidFill>
                  <a:srgbClr val="A6B814"/>
                </a:solidFill>
                <a:latin typeface="Calibri" panose="020F0502020204030204" pitchFamily="34" charset="0"/>
              </a:rPr>
              <a:t>Version 1.0 Complete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C7E84-44FC-10C7-F2EE-84542915A064}"/>
              </a:ext>
            </a:extLst>
          </p:cNvPr>
          <p:cNvSpPr txBox="1"/>
          <p:nvPr/>
        </p:nvSpPr>
        <p:spPr>
          <a:xfrm>
            <a:off x="762000" y="2413000"/>
            <a:ext cx="1066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2200">
                <a:solidFill>
                  <a:srgbClr val="FCFAF8"/>
                </a:solidFill>
                <a:latin typeface="Calibri" panose="020F0502020204030204" pitchFamily="34" charset="0"/>
              </a:rPr>
              <a:t>Miautrix Mail Server is production-ready.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685386-FC8B-8C08-D605-28E4057CA9AF}"/>
              </a:ext>
            </a:extLst>
          </p:cNvPr>
          <p:cNvSpPr txBox="1"/>
          <p:nvPr/>
        </p:nvSpPr>
        <p:spPr>
          <a:xfrm>
            <a:off x="762000" y="3175000"/>
            <a:ext cx="10668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Core mail pipeline, multi-tenant, Webmail, Admin Console, CLI, Desktop App.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Deployed at mail.miautrix.tech with Cloudflare Tunnel and optional Worker transport.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Future: Federation (ActivityPub), advanced analytics, native mobile SDK.</a:t>
            </a:r>
          </a:p>
          <a:p>
            <a:pPr indent="-285750">
              <a:buChar char="•"/>
            </a:pPr>
            <a:r>
              <a:rPr lang="en-CA" sz="1600">
                <a:solidFill>
                  <a:srgbClr val="FCFAF8"/>
                </a:solidFill>
                <a:latin typeface="Calibri" panose="020F0502020204030204" pitchFamily="34" charset="0"/>
              </a:rPr>
              <a:t>Licensing: Fail-open, flat pricing, MFA and admin access are free in every edition.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6BBAF-A22B-B4AC-C793-4F99B064C705}"/>
              </a:ext>
            </a:extLst>
          </p:cNvPr>
          <p:cNvSpPr txBox="1"/>
          <p:nvPr/>
        </p:nvSpPr>
        <p:spPr>
          <a:xfrm>
            <a:off x="762000" y="5842000"/>
            <a:ext cx="1066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CA" sz="1400">
                <a:solidFill>
                  <a:srgbClr val="B8A394"/>
                </a:solidFill>
                <a:latin typeface="Calibri" panose="020F0502020204030204" pitchFamily="34" charset="0"/>
              </a:rPr>
              <a:t>mail.miautrix.tech | .NET 10 | PostgreSQL | React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F26A74-A6C5-8AF7-2FA6-91B8313FB1A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203200"/>
            <a:ext cx="1270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77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1232</Words>
  <Application>Microsoft Office PowerPoint</Application>
  <PresentationFormat>Custom</PresentationFormat>
  <Paragraphs>126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Cristobal Arboleda</dc:creator>
  <cp:lastModifiedBy>Cristobal Arboleda</cp:lastModifiedBy>
  <cp:revision>1</cp:revision>
  <dcterms:created xsi:type="dcterms:W3CDTF">2026-10-07T15:42:30Z</dcterms:created>
  <dcterms:modified xsi:type="dcterms:W3CDTF">2026-10-07T15:42:30Z</dcterms:modified>
</cp:coreProperties>
</file>